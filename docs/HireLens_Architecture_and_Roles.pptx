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HireLens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B8C4D9"/>
                </a:solidFill>
                <a:latin typeface="Calibri"/>
              </a:rPr>
              <a:t>System architecture · hiring funnel · role access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9AAAC4"/>
                </a:solidFill>
                <a:latin typeface="Calibri"/>
              </a:rPr>
              <a:t>Evidence-backed hiring: jobs → CV screen → interview →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System map — use case · stack · externals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B8C4D9"/>
                </a:solidFill>
                <a:latin typeface="Calibri"/>
              </a:rPr>
              <a:t>End-to-end hiring funnel with services and dependencies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3566160" cy="777240"/>
          </a:xfrm>
          <a:prstGeom prst="roundRect">
            <a:avLst/>
          </a:prstGeom>
          <a:solidFill>
            <a:srgbClr val="2F6FA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Actor · Interviewer / admin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Staff app · jobs · room tools · assessments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05840"/>
            <a:ext cx="3566160" cy="777240"/>
          </a:xfrm>
          <a:prstGeom prst="roundRect">
            <a:avLst/>
          </a:prstGeom>
          <a:solidFill>
            <a:srgbClr val="0E7C8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Actor · Candidate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Invite join · interview room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005840"/>
            <a:ext cx="3931920" cy="777240"/>
          </a:xfrm>
          <a:prstGeom prst="roundRect">
            <a:avLst/>
          </a:prstGeom>
          <a:solidFill>
            <a:srgbClr val="2F6FA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Client · React / Vite SPA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jobs · room · assessments · policies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11430000" cy="713232"/>
          </a:xfrm>
          <a:prstGeom prst="roundRect">
            <a:avLst/>
          </a:prstGeom>
          <a:solidFill>
            <a:srgbClr val="F4F6F9"/>
          </a:solidFill>
          <a:ln w="22225">
            <a:solidFill>
              <a:srgbClr val="2F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F6FAD"/>
                </a:solidFill>
                <a:latin typeface="Calibri"/>
              </a:rPr>
              <a:t>1  Create &amp; publish job   (staff)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2A4A"/>
                </a:solidFill>
                <a:latin typeface="Calibri"/>
              </a:rPr>
              <a:t>Job assistant UI → FastAPI /jobs/assistant → LangGraph 0 → HITL approve → Publish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5568"/>
                </a:solidFill>
                <a:latin typeface="Calibri"/>
              </a:rPr>
              <a:t>Gemini · Postgres + checkpoint · pgvector policy · Blogger /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706624"/>
            <a:ext cx="11430000" cy="713232"/>
          </a:xfrm>
          <a:prstGeom prst="roundRect">
            <a:avLst/>
          </a:prstGeom>
          <a:solidFill>
            <a:srgbClr val="F4F6F9"/>
          </a:solidFill>
          <a:ln w="22225">
            <a:solidFill>
              <a:srgbClr val="0E7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E7C8B"/>
                </a:solidFill>
                <a:latin typeface="Calibri"/>
              </a:rPr>
              <a:t>2  Apply &amp; intake CV   (candidate · system)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2A4A"/>
                </a:solidFill>
                <a:latin typeface="Calibri"/>
              </a:rPr>
              <a:t>Email apply / upload → IMAP ingest · IntakeService → Queue candidate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5568"/>
                </a:solidFill>
                <a:latin typeface="Calibri"/>
              </a:rPr>
              <a:t>IMAP mailbox · CV_DIR · Postgres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493008"/>
            <a:ext cx="11430000" cy="713232"/>
          </a:xfrm>
          <a:prstGeom prst="roundRect">
            <a:avLst/>
          </a:prstGeom>
          <a:solidFill>
            <a:srgbClr val="F4F6F9"/>
          </a:solidFill>
          <a:ln w="22225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F7D4F"/>
                </a:solidFill>
                <a:latin typeface="Calibri"/>
              </a:rPr>
              <a:t>3  Screen CV   (system)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2A4A"/>
                </a:solidFill>
                <a:latin typeface="Calibri"/>
              </a:rPr>
              <a:t>Celery worker → LangGraph A → Match · score · persist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5568"/>
                </a:solidFill>
                <a:latin typeface="Calibri"/>
              </a:rPr>
              <a:t>Redis · Gemini · Tesseract OCR · pgvector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79392"/>
            <a:ext cx="11430000" cy="713232"/>
          </a:xfrm>
          <a:prstGeom prst="roundRect">
            <a:avLst/>
          </a:prstGeom>
          <a:solidFill>
            <a:srgbClr val="F4F6F9"/>
          </a:solidFill>
          <a:ln w="22225">
            <a:solidFill>
              <a:srgbClr val="2F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F6FAD"/>
                </a:solidFill>
                <a:latin typeface="Calibri"/>
              </a:rPr>
              <a:t>4  Live interview   (staff + candidate)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2A4A"/>
                </a:solidFill>
                <a:latin typeface="Calibri"/>
              </a:rPr>
              <a:t>SMTP invite → /join · room → WebRTC + WS → STT · transcript · copilot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5568"/>
                </a:solidFill>
                <a:latin typeface="Calibri"/>
              </a:rPr>
              <a:t>SMTP · AssemblyAI / Whisper · STUN/TURN · Gemini copilot · transcript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065776"/>
            <a:ext cx="11430000" cy="713232"/>
          </a:xfrm>
          <a:prstGeom prst="roundRect">
            <a:avLst/>
          </a:prstGeom>
          <a:solidFill>
            <a:srgbClr val="F4F6F9"/>
          </a:solidFill>
          <a:ln w="22225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B4C9A"/>
                </a:solidFill>
                <a:latin typeface="Calibri"/>
              </a:rPr>
              <a:t>5  Evaluate &amp; decide   (system · staff)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2A4A"/>
                </a:solidFill>
                <a:latin typeface="Calibri"/>
              </a:rPr>
              <a:t>/evaluate → LangGraph B QA → LangGraph C assessment → Reports · compare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5568"/>
                </a:solidFill>
                <a:latin typeface="Calibri"/>
              </a:rPr>
              <a:t>Gemini · Postgres · Funnel Doctor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897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6A2B"/>
                </a:solidFill>
                <a:latin typeface="Calibri"/>
              </a:rPr>
              <a:t>Feedback: Funnel Doctor → suggest revision → Graph 0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Shared platform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B8C4D9"/>
                </a:solidFill>
                <a:latin typeface="Calibri"/>
              </a:rPr>
              <a:t>What every stage runs 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1645920"/>
          </a:xfrm>
          <a:prstGeom prst="roundRect">
            <a:avLst/>
          </a:prstGeom>
          <a:solidFill>
            <a:srgbClr val="2F6FA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Auth HMAC · REST · WebSocket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188720"/>
            <a:ext cx="3566160" cy="1645920"/>
          </a:xfrm>
          <a:prstGeom prst="roundRect">
            <a:avLst/>
          </a:prstGeom>
          <a:solidFill>
            <a:srgbClr val="2F6FA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LangGraph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Graph 0 job · A CV · B QA · C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188720"/>
            <a:ext cx="3566160" cy="1645920"/>
          </a:xfrm>
          <a:prstGeom prst="roundRect">
            <a:avLst/>
          </a:prstGeom>
          <a:solidFill>
            <a:srgbClr val="2F7D4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Postgres + pgvector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Jobs · scores · RAG · checkpoints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3566160" cy="1645920"/>
          </a:xfrm>
          <a:prstGeom prst="roundRect">
            <a:avLst/>
          </a:prstGeom>
          <a:solidFill>
            <a:srgbClr val="2F7D4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Redis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Celery broker for CV screening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200400"/>
            <a:ext cx="3566160" cy="1645920"/>
          </a:xfrm>
          <a:prstGeom prst="roundRect">
            <a:avLst/>
          </a:prstGeom>
          <a:solidFill>
            <a:srgbClr val="C06A2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Gemini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LLM drafting · screening · embeddings · 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200400"/>
            <a:ext cx="3566160" cy="1645920"/>
          </a:xfrm>
          <a:prstGeom prst="roundRect">
            <a:avLst/>
          </a:prstGeom>
          <a:solidFill>
            <a:srgbClr val="C06A2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Speech / mail / publish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AssemblyAI/Whisper · IMAP/SMTP · Blogger/MCP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Who can use what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B8C4D9"/>
                </a:solidFill>
                <a:latin typeface="Calibri"/>
              </a:rPr>
              <a:t>Feature access by role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51560"/>
            <a:ext cx="3749039" cy="53949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F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FAD"/>
                </a:solidFill>
                <a:latin typeface="Calibri"/>
              </a:rPr>
              <a:t>Interviewer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Staff signup · full hiring UI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Dashboard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Job assistant · approve · publish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Jobs · Funnel Doctor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Candidates · CV upload · batch review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Schedule interviews · SMTP invite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Interview room · transcript · notes · copilot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Evaluate · assessments · compare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Policies ·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051560"/>
            <a:ext cx="3749039" cy="53949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B4C9A"/>
                </a:solidFill>
                <a:latin typeface="Calibri"/>
              </a:rPr>
              <a:t>Admin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Config user · interviewer + ops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Everything interviewer has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Admin-only extras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Activity log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Delete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051560"/>
            <a:ext cx="3749039" cy="53949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E7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7C8B"/>
                </a:solidFill>
                <a:latin typeface="Calibri"/>
              </a:rPr>
              <a:t>Candidate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Invite token only · no staff nav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Join via /join/:token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Consent banner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Interview room · A/V call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Not available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Transcript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Copilot · notes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Jobs · CVs · assessments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Funnel · who is in each stage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B8C4D9"/>
                </a:solidFill>
                <a:latin typeface="Calibri"/>
              </a:rPr>
              <a:t>Role participation across the hiring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2926080" cy="685800"/>
          </a:xfrm>
          <a:prstGeom prst="rect">
            <a:avLst/>
          </a:prstGeom>
          <a:solidFill>
            <a:srgbClr val="1B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188720"/>
            <a:ext cx="2743200" cy="685800"/>
          </a:xfrm>
          <a:prstGeom prst="rect">
            <a:avLst/>
          </a:prstGeom>
          <a:solidFill>
            <a:srgbClr val="1B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Interviewer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188720"/>
            <a:ext cx="2743200" cy="685800"/>
          </a:xfrm>
          <a:prstGeom prst="rect">
            <a:avLst/>
          </a:prstGeom>
          <a:solidFill>
            <a:srgbClr val="1B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8915400" y="1188720"/>
            <a:ext cx="2743200" cy="685800"/>
          </a:xfrm>
          <a:prstGeom prst="rect">
            <a:avLst/>
          </a:prstGeom>
          <a:solidFill>
            <a:srgbClr val="1B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Candidate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20"/>
            <a:ext cx="2926080" cy="685800"/>
          </a:xfrm>
          <a:prstGeom prst="rect">
            <a:avLst/>
          </a:prstGeom>
          <a:solidFill>
            <a:srgbClr val="F4F6F9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 Job post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745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745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Open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874520"/>
            <a:ext cx="2743200" cy="685800"/>
          </a:xfrm>
          <a:prstGeom prst="rect">
            <a:avLst/>
          </a:prstGeom>
          <a:solidFill>
            <a:srgbClr val="E8ECF1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A5568"/>
                </a:solidFill>
                <a:latin typeface="Calibri"/>
              </a:rPr>
              <a:t>Closed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2926080" cy="685800"/>
          </a:xfrm>
          <a:prstGeom prst="rect">
            <a:avLst/>
          </a:prstGeom>
          <a:solidFill>
            <a:srgbClr val="F4F6F9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2 Apply / intake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5603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Upload CVs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Upload CVs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5603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Email apply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20"/>
            <a:ext cx="2926080" cy="685800"/>
          </a:xfrm>
          <a:prstGeom prst="rect">
            <a:avLst/>
          </a:prstGeom>
          <a:solidFill>
            <a:srgbClr val="F4F6F9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3 CV screen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2461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Review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2461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Review · delete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3246120"/>
            <a:ext cx="2743200" cy="685800"/>
          </a:xfrm>
          <a:prstGeom prst="rect">
            <a:avLst/>
          </a:prstGeom>
          <a:solidFill>
            <a:srgbClr val="E8ECF1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A5568"/>
                </a:solidFill>
                <a:latin typeface="Calibri"/>
              </a:rPr>
              <a:t>Closed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2926080" cy="685800"/>
          </a:xfrm>
          <a:prstGeom prst="rect">
            <a:avLst/>
          </a:prstGeom>
          <a:solidFill>
            <a:srgbClr val="F4F6F9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4 Live interview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9319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Room +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9319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Room +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39319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Room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2926080" cy="685800"/>
          </a:xfrm>
          <a:prstGeom prst="rect">
            <a:avLst/>
          </a:prstGeom>
          <a:solidFill>
            <a:srgbClr val="F4F6F9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5 Evaluate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46177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Open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617720"/>
            <a:ext cx="2743200" cy="685800"/>
          </a:xfrm>
          <a:prstGeom prst="rect">
            <a:avLst/>
          </a:prstGeom>
          <a:solidFill>
            <a:srgbClr val="E3F0EA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F7D4F"/>
                </a:solidFill>
                <a:latin typeface="Calibri"/>
              </a:rPr>
              <a:t>Open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4617720"/>
            <a:ext cx="2743200" cy="685800"/>
          </a:xfrm>
          <a:prstGeom prst="rect">
            <a:avLst/>
          </a:prstGeom>
          <a:solidFill>
            <a:srgbClr val="E8ECF1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A5568"/>
                </a:solidFill>
                <a:latin typeface="Calibri"/>
              </a:rPr>
              <a:t>Closed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Shared interview room · different UI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B8C4D9"/>
                </a:solidFill>
                <a:latin typeface="Calibri"/>
              </a:rPr>
              <a:t>Same WebRTC call — staff tools vs candidate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029200" cy="4114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F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FAD"/>
                </a:solidFill>
                <a:latin typeface="Calibri"/>
              </a:rPr>
              <a:t>Staff in room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Live transcript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Edit turns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Co-pilot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Notes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End interview · evaluate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2834640"/>
            <a:ext cx="868680" cy="128016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WebRTC
+
STT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371600"/>
            <a:ext cx="5029200" cy="41148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E7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7C8B"/>
                </a:solidFill>
                <a:latin typeface="Calibri"/>
              </a:rPr>
              <a:t>Candidate in room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Video / audio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Consent notice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• Call controls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No transcript · no copilot · no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